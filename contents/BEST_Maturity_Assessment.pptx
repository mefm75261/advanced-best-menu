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maturity</c:v>
                </c:pt>
              </c:strCache>
            </c:strRef>
          </c:tx>
          <c:spPr>
            <a:solidFill>
              <a:srgbClr val="FF6600"/>
            </a:solidFill>
            <a:ln w="25400" cap="flat">
              <a:solidFill>
                <a:srgbClr val="FF6600"/>
              </a:solidFill>
              <a:prstDash val="solid"/>
              <a:round/>
            </a:ln>
            <a:effectLst/>
          </c:spPr>
          <c:cat>
            <c:strRef>
              <c:f>Sheet1!$A$2:$A$11</c:f>
              <c:strCache>
                <c:ptCount val="10"/>
                <c:pt idx="0">
                  <c:v>Leadership</c:v>
                </c:pt>
                <c:pt idx="1">
                  <c:v>Strategy</c:v>
                </c:pt>
                <c:pt idx="2">
                  <c:v>Std Work</c:v>
                </c:pt>
                <c:pt idx="3">
                  <c:v>Problem Solving</c:v>
                </c:pt>
                <c:pt idx="4">
                  <c:v>Process &amp; Perf</c:v>
                </c:pt>
                <c:pt idx="5">
                  <c:v>Recognition</c:v>
                </c:pt>
                <c:pt idx="6">
                  <c:v>Capability</c:v>
                </c:pt>
                <c:pt idx="7">
                  <c:v>Knowledge</c:v>
                </c:pt>
                <c:pt idx="8">
                  <c:v>Customer</c:v>
                </c:pt>
                <c:pt idx="9">
                  <c:v>Safety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</c:v>
                </c:pt>
                <c:pt idx="1">
                  <c:v>46</c:v>
                </c:pt>
                <c:pt idx="2">
                  <c:v>52</c:v>
                </c:pt>
                <c:pt idx="3">
                  <c:v>40</c:v>
                </c:pt>
                <c:pt idx="4">
                  <c:v>55</c:v>
                </c:pt>
                <c:pt idx="5">
                  <c:v>62</c:v>
                </c:pt>
                <c:pt idx="6">
                  <c:v>48</c:v>
                </c:pt>
                <c:pt idx="7">
                  <c:v>38</c:v>
                </c:pt>
                <c:pt idx="8">
                  <c:v>50</c:v>
                </c:pt>
                <c:pt idx="9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38-4BDF-81B2-55A281E67E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55657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6350" cap="flat">
              <a:solidFill>
                <a:srgbClr val="5565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3F2454-4B22-4DE5-932E-A62DB37FC5A5}" type="datetimeFigureOut">
              <a:t>17/07/2026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48289-ED4A-4965-939E-B780081C2EAD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1544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title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74175" y="457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9174175" y="1024128"/>
            <a:ext cx="2377440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705295" y="106070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Excellence System for Terminals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64008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ASSESSMENT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12648" y="3154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where we stand</a:t>
            </a:r>
            <a:endParaRPr lang="en-US" sz="4600" dirty="0"/>
          </a:p>
        </p:txBody>
      </p:sp>
      <p:sp>
        <p:nvSpPr>
          <p:cNvPr id="9" name="Text 5"/>
          <p:cNvSpPr/>
          <p:nvPr/>
        </p:nvSpPr>
        <p:spPr>
          <a:xfrm>
            <a:off x="640080" y="4297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leadership briefing on how we baseline maturity across the network, and turn it into a customized BEST deployment plan for every terminal.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Hanseatic Global Terminals</a:t>
            </a: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Operational Excellence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Maturity Assessment is how BEST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and steers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the BEST operating system, the assessment is the diagnostic that spreads and sustains the system — it tells us where each terminal is today so deployment is targeted, not generic.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11535" cy="804672"/>
          </a:xfrm>
          <a:prstGeom prst="roundRect">
            <a:avLst>
              <a:gd name="adj" fmla="val 10227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468880"/>
            <a:ext cx="164592" cy="164592"/>
          </a:xfrm>
          <a:prstGeom prst="diamond">
            <a:avLst/>
          </a:prstGeom>
          <a:solidFill>
            <a:srgbClr val="8B95A1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26771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Enablers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587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behaviours that make it work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2148840"/>
            <a:ext cx="6766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&amp; Genba · Recognition &amp; Culture · Safety Excellence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90672"/>
            <a:ext cx="10911535" cy="804672"/>
          </a:xfrm>
          <a:prstGeom prst="roundRect">
            <a:avLst>
              <a:gd name="adj" fmla="val 10227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32688" y="3410712"/>
            <a:ext cx="164592" cy="164592"/>
          </a:xfrm>
          <a:prstGeom prst="diamond">
            <a:avLst/>
          </a:prstGeom>
          <a:solidFill>
            <a:srgbClr val="8B95A1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20954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5295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standing structures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3090672"/>
            <a:ext cx="6766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Deployment · Management Routines · CI · Capability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32504"/>
            <a:ext cx="10911535" cy="804672"/>
          </a:xfrm>
          <a:prstGeom prst="roundRect">
            <a:avLst>
              <a:gd name="adj" fmla="val 10227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352544"/>
            <a:ext cx="164592" cy="164592"/>
          </a:xfrm>
          <a:prstGeom prst="diamond">
            <a:avLst/>
          </a:prstGeom>
          <a:solidFill>
            <a:srgbClr val="8B95A1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415137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Methods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4714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techniques the systems use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4032504"/>
            <a:ext cx="6766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&amp; Six Sigma · 6S · Value Stream Mapping · Change Mgmt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10911535" cy="804672"/>
          </a:xfrm>
          <a:prstGeom prst="roundRect">
            <a:avLst>
              <a:gd name="adj" fmla="val 10227"/>
            </a:avLst>
          </a:prstGeom>
          <a:solidFill>
            <a:srgbClr val="4A5A6C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" y="5294376"/>
            <a:ext cx="164592" cy="164592"/>
          </a:xfrm>
          <a:prstGeom prst="diamond">
            <a:avLst/>
          </a:prstGeom>
          <a:solidFill>
            <a:srgbClr val="FF6600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509320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Feedback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13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&amp; sustain the system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5157216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FF66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515721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Assessment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80960" y="5157216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3C4C5E"/>
          </a:solidFill>
          <a:ln w="12700">
            <a:solidFill>
              <a:srgbClr val="5565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515721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Excellence Agents Network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916168"/>
            <a:ext cx="10911535" cy="457200"/>
          </a:xfrm>
          <a:prstGeom prst="roundRect">
            <a:avLst>
              <a:gd name="adj" fmla="val 16000"/>
            </a:avLst>
          </a:prstGeom>
          <a:solidFill>
            <a:srgbClr val="FF6600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5916168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AIM   — 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Global Terminal Operator by 2030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baseline, not a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93338" cy="2286000"/>
          </a:xfrm>
          <a:prstGeom prst="roundRect">
            <a:avLst>
              <a:gd name="adj" fmla="val 3600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146304" cy="146304"/>
          </a:xfrm>
          <a:prstGeom prst="diamond">
            <a:avLst/>
          </a:prstGeom>
          <a:solidFill>
            <a:srgbClr val="FF6600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920240"/>
            <a:ext cx="2478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27532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diagnostic of operational maturity across the 10 BEST elements — scored 1–5 from evidence, observation and interviews.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9178" y="1645920"/>
            <a:ext cx="3393338" cy="2286000"/>
          </a:xfrm>
          <a:prstGeom prst="roundRect">
            <a:avLst>
              <a:gd name="adj" fmla="val 3600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19218" y="2011680"/>
            <a:ext cx="146304" cy="146304"/>
          </a:xfrm>
          <a:prstGeom prst="diamond">
            <a:avLst/>
          </a:prstGeom>
          <a:solidFill>
            <a:srgbClr val="4A5A6C"/>
          </a:solidFill>
          <a:ln/>
        </p:spPr>
      </p:sp>
      <p:sp>
        <p:nvSpPr>
          <p:cNvPr id="10" name="Text 8"/>
          <p:cNvSpPr/>
          <p:nvPr/>
        </p:nvSpPr>
        <p:spPr>
          <a:xfrm>
            <a:off x="4993538" y="1920240"/>
            <a:ext cx="2478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not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9218" y="2514600"/>
            <a:ext cx="27532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audit, not a pass/fail, not a ranking of people. No one is judged or punished by the result.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1645920"/>
            <a:ext cx="3393338" cy="2286000"/>
          </a:xfrm>
          <a:prstGeom prst="roundRect">
            <a:avLst>
              <a:gd name="adj" fmla="val 3600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78317" y="2011680"/>
            <a:ext cx="146304" cy="146304"/>
          </a:xfrm>
          <a:prstGeom prst="diamond">
            <a:avLst/>
          </a:prstGeom>
          <a:solidFill>
            <a:srgbClr val="FF6600"/>
          </a:solidFill>
          <a:ln/>
        </p:spPr>
      </p:sp>
      <p:sp>
        <p:nvSpPr>
          <p:cNvPr id="14" name="Text 12"/>
          <p:cNvSpPr/>
          <p:nvPr/>
        </p:nvSpPr>
        <p:spPr>
          <a:xfrm>
            <a:off x="8752637" y="1920240"/>
            <a:ext cx="2478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do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78317" y="2514600"/>
            <a:ext cx="27532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see where each terminal really stands today, so we invest effort where it changes outcomes.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4A5A6C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4251960"/>
            <a:ext cx="99971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a starting line. </a:t>
            </a:r>
            <a:r>
              <a:rPr lang="en-US" sz="1500" dirty="0">
                <a:solidFill>
                  <a:srgbClr val="E6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whole value is to make today visible so we can prove tomorrow’s progress.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MEASURE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elements,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element is scored across ten evidence-based items — 100 items in total.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72888" cy="713232"/>
          </a:xfrm>
          <a:prstGeom prst="roundRect">
            <a:avLst>
              <a:gd name="adj" fmla="val 11538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84248"/>
            <a:ext cx="402336" cy="402336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84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828800"/>
            <a:ext cx="4358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&amp; Commitment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828800"/>
            <a:ext cx="5272888" cy="713232"/>
          </a:xfrm>
          <a:prstGeom prst="roundRect">
            <a:avLst>
              <a:gd name="adj" fmla="val 11538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9896" y="1984248"/>
            <a:ext cx="402336" cy="402336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1" name="Text 9"/>
          <p:cNvSpPr/>
          <p:nvPr/>
        </p:nvSpPr>
        <p:spPr>
          <a:xfrm>
            <a:off x="6479896" y="1984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55968" y="1828800"/>
            <a:ext cx="4358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Deployment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5272888" cy="713232"/>
          </a:xfrm>
          <a:prstGeom prst="roundRect">
            <a:avLst>
              <a:gd name="adj" fmla="val 11538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2898648"/>
            <a:ext cx="402336" cy="402336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898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2743200"/>
            <a:ext cx="4358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Work &amp; Daily Management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78728" y="2743200"/>
            <a:ext cx="5272888" cy="713232"/>
          </a:xfrm>
          <a:prstGeom prst="roundRect">
            <a:avLst>
              <a:gd name="adj" fmla="val 11538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9896" y="2898648"/>
            <a:ext cx="402336" cy="402336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79896" y="2898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55968" y="2743200"/>
            <a:ext cx="4358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Solving &amp; Continuous Improvement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3657600"/>
            <a:ext cx="5272888" cy="713232"/>
          </a:xfrm>
          <a:prstGeom prst="roundRect">
            <a:avLst>
              <a:gd name="adj" fmla="val 11538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" y="3813048"/>
            <a:ext cx="402336" cy="402336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3813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3657600"/>
            <a:ext cx="4358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&amp; Performance Management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78728" y="3657600"/>
            <a:ext cx="5272888" cy="713232"/>
          </a:xfrm>
          <a:prstGeom prst="roundRect">
            <a:avLst>
              <a:gd name="adj" fmla="val 11538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79896" y="3813048"/>
            <a:ext cx="402336" cy="402336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79896" y="3813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55968" y="3657600"/>
            <a:ext cx="4358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&amp; Culture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4572000"/>
            <a:ext cx="5272888" cy="713232"/>
          </a:xfrm>
          <a:prstGeom prst="roundRect">
            <a:avLst>
              <a:gd name="adj" fmla="val 11538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" y="4727448"/>
            <a:ext cx="402336" cy="402336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4727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17320" y="4572000"/>
            <a:ext cx="4358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Building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278728" y="4572000"/>
            <a:ext cx="5272888" cy="713232"/>
          </a:xfrm>
          <a:prstGeom prst="roundRect">
            <a:avLst>
              <a:gd name="adj" fmla="val 11538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79896" y="4727448"/>
            <a:ext cx="402336" cy="402336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5" name="Text 33"/>
          <p:cNvSpPr/>
          <p:nvPr/>
        </p:nvSpPr>
        <p:spPr>
          <a:xfrm>
            <a:off x="6479896" y="4727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55968" y="4572000"/>
            <a:ext cx="4358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Sharing &amp; Knowledge Mgmt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40080" y="5486400"/>
            <a:ext cx="5272888" cy="713232"/>
          </a:xfrm>
          <a:prstGeom prst="roundRect">
            <a:avLst>
              <a:gd name="adj" fmla="val 11538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41248" y="5641848"/>
            <a:ext cx="402336" cy="402336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" y="5641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417320" y="5486400"/>
            <a:ext cx="4358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 (CX)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278728" y="5486400"/>
            <a:ext cx="5272888" cy="713232"/>
          </a:xfrm>
          <a:prstGeom prst="roundRect">
            <a:avLst>
              <a:gd name="adj" fmla="val 11538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79896" y="5641848"/>
            <a:ext cx="402336" cy="402336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43" name="Text 41"/>
          <p:cNvSpPr/>
          <p:nvPr/>
        </p:nvSpPr>
        <p:spPr>
          <a:xfrm>
            <a:off x="6479896" y="5641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055968" y="5486400"/>
            <a:ext cx="4358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Excellence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score: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is scored against the same five-level maturity spine. We score the level the evidence best matches — not intention.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768096"/>
          </a:xfrm>
          <a:prstGeom prst="roundRect">
            <a:avLst>
              <a:gd name="adj" fmla="val 10714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F660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920240"/>
            <a:ext cx="22860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1920240"/>
            <a:ext cx="752825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system. The practice is not defined; any occurrence is accidental.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07208"/>
            <a:ext cx="10911535" cy="768096"/>
          </a:xfrm>
          <a:prstGeom prst="roundRect">
            <a:avLst>
              <a:gd name="adj" fmla="val 10714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292608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F660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9260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2807208"/>
            <a:ext cx="22860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2807208"/>
            <a:ext cx="752825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in pockets or on paper. Applied reactively, inconsistently, depends on individuals.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94176"/>
            <a:ext cx="10911535" cy="768096"/>
          </a:xfrm>
          <a:prstGeom prst="roundRect">
            <a:avLst>
              <a:gd name="adj" fmla="val 10714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8130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F660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8130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3694176"/>
            <a:ext cx="22860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694176"/>
            <a:ext cx="752825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and repeatable across the area. Followed most of the time; verified periodically.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81144"/>
            <a:ext cx="10911535" cy="768096"/>
          </a:xfrm>
          <a:prstGeom prst="roundRect">
            <a:avLst>
              <a:gd name="adj" fmla="val 10714"/>
            </a:avLst>
          </a:prstGeom>
          <a:solidFill>
            <a:srgbClr val="4A5A6C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70001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F660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7000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54480" y="4581144"/>
            <a:ext cx="22860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40480" y="4581144"/>
            <a:ext cx="752825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 daily management. Measured; deviations trigger action; sustained without external push.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68112"/>
            <a:ext cx="10911535" cy="768096"/>
          </a:xfrm>
          <a:prstGeom prst="roundRect">
            <a:avLst>
              <a:gd name="adj" fmla="val 10714"/>
            </a:avLst>
          </a:prstGeom>
          <a:solidFill>
            <a:srgbClr val="4A5A6C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558698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F6600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55869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554480" y="5468112"/>
            <a:ext cx="22860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840480" y="5468112"/>
            <a:ext cx="752825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Self-sustaining and improving. Owned by the line; benchmarked and replicated to other terminals.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on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opinion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 of 3 or higher requires sighted evidence. Each item names what to look for and who to talk to — and the three channels must agree.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487854" cy="2011680"/>
          </a:xfrm>
          <a:prstGeom prst="roundRect">
            <a:avLst>
              <a:gd name="adj" fmla="val 4091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7975" y="2331720"/>
            <a:ext cx="512064" cy="512064"/>
          </a:xfrm>
          <a:prstGeom prst="ellipse">
            <a:avLst/>
          </a:prstGeom>
          <a:solidFill>
            <a:srgbClr val="2A3543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7975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2135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212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defined standard exist?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1220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intent &amp; design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47974" y="2057400"/>
            <a:ext cx="2487854" cy="2011680"/>
          </a:xfrm>
          <a:prstGeom prst="roundRect">
            <a:avLst>
              <a:gd name="adj" fmla="val 4091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5869" y="2331720"/>
            <a:ext cx="512064" cy="512064"/>
          </a:xfrm>
          <a:prstGeom prst="ellipse">
            <a:avLst/>
          </a:prstGeom>
          <a:solidFill>
            <a:srgbClr val="2A3543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5869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85134" y="2971800"/>
            <a:ext cx="22135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30854" y="3337560"/>
            <a:ext cx="212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actually done on the floor?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30854" y="3657600"/>
            <a:ext cx="21220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real behaviour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55868" y="2057400"/>
            <a:ext cx="2487854" cy="2011680"/>
          </a:xfrm>
          <a:prstGeom prst="roundRect">
            <a:avLst>
              <a:gd name="adj" fmla="val 4091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43762" y="2331720"/>
            <a:ext cx="512064" cy="512064"/>
          </a:xfrm>
          <a:prstGeom prst="ellipse">
            <a:avLst/>
          </a:prstGeom>
          <a:solidFill>
            <a:srgbClr val="2A3543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3762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93028" y="2971800"/>
            <a:ext cx="22135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Record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38748" y="3337560"/>
            <a:ext cx="212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produce a tracked result?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38748" y="3657600"/>
            <a:ext cx="21220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it is managed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63761" y="2057400"/>
            <a:ext cx="2487854" cy="2011680"/>
          </a:xfrm>
          <a:prstGeom prst="roundRect">
            <a:avLst>
              <a:gd name="adj" fmla="val 4091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51656" y="2331720"/>
            <a:ext cx="512064" cy="512064"/>
          </a:xfrm>
          <a:prstGeom prst="ellipse">
            <a:avLst/>
          </a:prstGeom>
          <a:solidFill>
            <a:srgbClr val="2A3543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1656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00921" y="2971800"/>
            <a:ext cx="22135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46641" y="3337560"/>
            <a:ext cx="212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understood and owned?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46641" y="3657600"/>
            <a:ext cx="21220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it is embedded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38912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4A5A6C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97280" y="4389120"/>
            <a:ext cx="99971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  </a:t>
            </a: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evidence, no score above 2.  </a:t>
            </a:r>
            <a:r>
              <a:rPr lang="en-US" sz="1350" dirty="0">
                <a:solidFill>
                  <a:srgbClr val="E6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to three data points support every score of 3+. We score what we observe, not what is planned.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divid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divider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400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answers are the </a:t>
            </a:r>
            <a:r>
              <a:rPr lang="en-US" sz="4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point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40080" y="54406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baseline only works if it is true. An inflated score doesn’t move us forward — it hides the very opportunities this exercise exists to find.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want the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number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27168" cy="1325880"/>
          </a:xfrm>
          <a:prstGeom prst="roundRect">
            <a:avLst>
              <a:gd name="adj" fmla="val 6207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92808"/>
            <a:ext cx="146304" cy="146304"/>
          </a:xfrm>
          <a:prstGeom prst="diamond">
            <a:avLst/>
          </a:prstGeom>
          <a:solidFill>
            <a:srgbClr val="FF6600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1801368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 score is not bad news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32688" y="2203704"/>
            <a:ext cx="4678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found opportunity. The lowest scores are exactly where the biggest, fastest gains live.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5227168" cy="1325880"/>
          </a:xfrm>
          <a:prstGeom prst="roundRect">
            <a:avLst>
              <a:gd name="adj" fmla="val 6207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401568"/>
            <a:ext cx="146304" cy="146304"/>
          </a:xfrm>
          <a:prstGeom prst="diamond">
            <a:avLst/>
          </a:prstGeom>
          <a:solidFill>
            <a:srgbClr val="FF6600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3310128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 is about the system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32688" y="3712464"/>
            <a:ext cx="4678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scoring maturity of practices — not the competence or worth of any person or team.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5227168" cy="1325880"/>
          </a:xfrm>
          <a:prstGeom prst="roundRect">
            <a:avLst>
              <a:gd name="adj" fmla="val 6207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4910328"/>
            <a:ext cx="146304" cy="146304"/>
          </a:xfrm>
          <a:prstGeom prst="diamond">
            <a:avLst/>
          </a:prstGeom>
          <a:solidFill>
            <a:srgbClr val="FF6600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4818888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confidential in purpose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32688" y="5221224"/>
            <a:ext cx="46785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guide support and investment. They are a coaching tool, not a stick.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24448" y="1600200"/>
            <a:ext cx="5227168" cy="4343400"/>
          </a:xfrm>
          <a:prstGeom prst="roundRect">
            <a:avLst>
              <a:gd name="adj" fmla="val 1895"/>
            </a:avLst>
          </a:prstGeom>
          <a:solidFill>
            <a:srgbClr val="4A5A6C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81648" y="2240280"/>
            <a:ext cx="431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can’t see it,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81648" y="2788920"/>
            <a:ext cx="431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can’t improve it.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81648" y="3703320"/>
            <a:ext cx="43127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2 today is worth far more than a flattering 4 — because the 2 comes with a clear path to 3, 4 and 5. A false 4 leaves us nowhere to go.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HONEST-SCORING PARADOX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high now,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later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terminals, same reality. The difference is honesty at the baseline — and it decides who can show progress next year.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27168" cy="3246120"/>
          </a:xfrm>
          <a:prstGeom prst="roundRect">
            <a:avLst>
              <a:gd name="adj" fmla="val 2535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86000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INFLATED BASELINE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 generous 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3154680"/>
            <a:ext cx="444992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great on day one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gaps stay hidden, unaddressed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E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Re-assessment can only stay flat or fall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E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work looks like decline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E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ever show real progress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4448" y="2011680"/>
            <a:ext cx="5227168" cy="3246120"/>
          </a:xfrm>
          <a:prstGeom prst="roundRect">
            <a:avLst>
              <a:gd name="adj" fmla="val 2535"/>
            </a:avLst>
          </a:prstGeom>
          <a:solidFill>
            <a:srgbClr val="4A5A6C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24448" y="2011680"/>
            <a:ext cx="5227168" cy="73152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/>
        </p:spPr>
      </p:sp>
      <p:sp>
        <p:nvSpPr>
          <p:cNvPr id="11" name="Text 9"/>
          <p:cNvSpPr/>
          <p:nvPr/>
        </p:nvSpPr>
        <p:spPr>
          <a:xfrm>
            <a:off x="6690208" y="2286000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BASELINE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0208" y="2651760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 truthful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35928" y="3154680"/>
            <a:ext cx="444992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E6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modest on day one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E6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gaps are named and visible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B7E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prioritized path to 3 → 4 → 5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B7E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improvement shows as a gain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B7E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provable, quarter on quarter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PROGRESS IS JUDGED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the opening number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is the slope from your own baseline — not how high you started, and not your rank against another terminal.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05840" y="411480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4A5A6C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4160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5303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88920" y="3785616"/>
            <a:ext cx="1554480" cy="1426464"/>
          </a:xfrm>
          <a:prstGeom prst="roundRect">
            <a:avLst>
              <a:gd name="adj" fmla="val 3846"/>
            </a:avLst>
          </a:prstGeom>
          <a:solidFill>
            <a:srgbClr val="FF6600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38313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88920" y="5303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Q+1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3401568"/>
            <a:ext cx="1554480" cy="1810512"/>
          </a:xfrm>
          <a:prstGeom prst="roundRect">
            <a:avLst>
              <a:gd name="adj" fmla="val 3529"/>
            </a:avLst>
          </a:prstGeom>
          <a:solidFill>
            <a:srgbClr val="FF6600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34472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5303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Q+2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3017520"/>
            <a:ext cx="1554480" cy="2194560"/>
          </a:xfrm>
          <a:prstGeom prst="roundRect">
            <a:avLst>
              <a:gd name="adj" fmla="val 3529"/>
            </a:avLst>
          </a:prstGeom>
          <a:solidFill>
            <a:srgbClr val="FF6600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3063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5303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Q+3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5840" y="5212080"/>
            <a:ext cx="6903720" cy="0"/>
          </a:xfrm>
          <a:prstGeom prst="line">
            <a:avLst/>
          </a:prstGeom>
          <a:noFill/>
          <a:ln w="12700">
            <a:solidFill>
              <a:srgbClr val="5565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011680"/>
            <a:ext cx="32305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that matters
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2606040"/>
            <a:ext cx="31391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and to the right.
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terminal moving 2 → 3 has improved more than one sitting flat at 4. We reward the climb, compare you to your past self first, and benchmark second.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scores to a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profile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roll up to a 0–100 score per element and an overall maturity band. The radar shows shape — where we are strong and where the opportunities are.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96596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8580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bands (0–100)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0" y="2560320"/>
            <a:ext cx="960120" cy="420624"/>
          </a:xfrm>
          <a:prstGeom prst="roundRect">
            <a:avLst>
              <a:gd name="adj" fmla="val 10870"/>
            </a:avLst>
          </a:prstGeom>
          <a:solidFill>
            <a:srgbClr val="B23A3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256032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0–20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01000" y="256032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0" y="3127248"/>
            <a:ext cx="960120" cy="420624"/>
          </a:xfrm>
          <a:prstGeom prst="roundRect">
            <a:avLst>
              <a:gd name="adj" fmla="val 10870"/>
            </a:avLst>
          </a:prstGeom>
          <a:solidFill>
            <a:srgbClr val="C08A1E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3127248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21–40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001000" y="312724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0" y="3694176"/>
            <a:ext cx="960120" cy="420624"/>
          </a:xfrm>
          <a:prstGeom prst="roundRect">
            <a:avLst>
              <a:gd name="adj" fmla="val 10870"/>
            </a:avLst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3694176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41–60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001000" y="369417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58000" y="4261104"/>
            <a:ext cx="960120" cy="420624"/>
          </a:xfrm>
          <a:prstGeom prst="roundRect">
            <a:avLst>
              <a:gd name="adj" fmla="val 10870"/>
            </a:avLst>
          </a:prstGeom>
          <a:solidFill>
            <a:srgbClr val="2F6FB0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4261104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61–80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001000" y="426110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0" y="4828032"/>
            <a:ext cx="960120" cy="420624"/>
          </a:xfrm>
          <a:prstGeom prst="roundRect">
            <a:avLst>
              <a:gd name="adj" fmla="val 10870"/>
            </a:avLst>
          </a:prstGeom>
          <a:solidFill>
            <a:srgbClr val="2C7A3F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4828032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81–100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001000" y="4828032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0" y="5486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shape, not just the height: a spiky profile and a balanced one need different plans.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the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lowest-scoring items inside the lowest-scoring elements are the priority list — the highest-leverage, fastest-return actions for each terminal.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87854" cy="2103120"/>
          </a:xfrm>
          <a:prstGeom prst="roundRect">
            <a:avLst>
              <a:gd name="adj" fmla="val 3913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95728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19392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193921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evidence-based items across 10 elements.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36494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47974" y="2103120"/>
            <a:ext cx="2487854" cy="2103120"/>
          </a:xfrm>
          <a:prstGeom prst="roundRect">
            <a:avLst>
              <a:gd name="adj" fmla="val 3913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2294" y="2395728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3722294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22294" y="3063240"/>
            <a:ext cx="19392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22294" y="3474720"/>
            <a:ext cx="193921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scores + radar reveal the maturity shape.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44388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55868" y="2103120"/>
            <a:ext cx="2487854" cy="2103120"/>
          </a:xfrm>
          <a:prstGeom prst="roundRect">
            <a:avLst>
              <a:gd name="adj" fmla="val 3913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0188" y="2395728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9" name="Text 17"/>
          <p:cNvSpPr/>
          <p:nvPr/>
        </p:nvSpPr>
        <p:spPr>
          <a:xfrm>
            <a:off x="6530188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30188" y="3063240"/>
            <a:ext cx="19392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0188" y="3474720"/>
            <a:ext cx="193921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scores become the ranked opportunity list.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52281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063761" y="2103120"/>
            <a:ext cx="2487854" cy="2103120"/>
          </a:xfrm>
          <a:prstGeom prst="roundRect">
            <a:avLst>
              <a:gd name="adj" fmla="val 3913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38081" y="2395728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5" name="Text 23"/>
          <p:cNvSpPr/>
          <p:nvPr/>
        </p:nvSpPr>
        <p:spPr>
          <a:xfrm>
            <a:off x="9338081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38081" y="3063240"/>
            <a:ext cx="19392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38081" y="3474720"/>
            <a:ext cx="193921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actions, owners and dates per terminal.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playbook,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customized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is one system — but terminals start in different places. The baseline lets us tailor sequence, support and intensity instead of a one-size-fits-all rollout.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1143000"/>
          </a:xfrm>
          <a:prstGeom prst="roundRect">
            <a:avLst>
              <a:gd name="adj" fmla="val 7200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3017520" cy="685800"/>
          </a:xfrm>
          <a:prstGeom prst="roundRect">
            <a:avLst>
              <a:gd name="adj" fmla="val 9333"/>
            </a:avLst>
          </a:prstGeom>
          <a:solidFill>
            <a:srgbClr val="FF660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860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Lower-maturity terminal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60520" y="2057400"/>
            <a:ext cx="71624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first — leadership routines, standard work, daily management. Heavier central support, slower cadence.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911535" cy="1143000"/>
          </a:xfrm>
          <a:prstGeom prst="roundRect">
            <a:avLst>
              <a:gd name="adj" fmla="val 7200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593592"/>
            <a:ext cx="3017520" cy="685800"/>
          </a:xfrm>
          <a:prstGeom prst="roundRect">
            <a:avLst>
              <a:gd name="adj" fmla="val 9333"/>
            </a:avLst>
          </a:prstGeom>
          <a:solidFill>
            <a:srgbClr val="FF6600">
              <a:alpha val="7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9359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Mid-maturity terminal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60520" y="3364992"/>
            <a:ext cx="71624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 the base — problem solving, KPI control, capability. Coaching over instruction; quarterly cadence.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72584"/>
            <a:ext cx="10911535" cy="1143000"/>
          </a:xfrm>
          <a:prstGeom prst="roundRect">
            <a:avLst>
              <a:gd name="adj" fmla="val 7200"/>
            </a:avLst>
          </a:prstGeom>
          <a:solidFill>
            <a:srgbClr val="4A5A6C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901184"/>
            <a:ext cx="3017520" cy="685800"/>
          </a:xfrm>
          <a:prstGeom prst="roundRect">
            <a:avLst>
              <a:gd name="adj" fmla="val 9333"/>
            </a:avLst>
          </a:prstGeom>
          <a:solidFill>
            <a:srgbClr val="FF6600">
              <a:alpha val="5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901184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Higher-maturity terminal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60520" y="4672584"/>
            <a:ext cx="71624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and spread — best-practice sharing, peer benchmarking. Becomes a model and Excellence Agent hub.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ask of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27168" cy="1417320"/>
          </a:xfrm>
          <a:prstGeom prst="roundRect">
            <a:avLst>
              <a:gd name="adj" fmla="val 5806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84248"/>
            <a:ext cx="164592" cy="164592"/>
          </a:xfrm>
          <a:prstGeom prst="diamond">
            <a:avLst/>
          </a:prstGeom>
          <a:solidFill>
            <a:srgbClr val="FF6600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892808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tone for honesty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2350008"/>
            <a:ext cx="458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explicitly safe to score low. Reward the truthful 2, never punish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8" y="1691640"/>
            <a:ext cx="5227168" cy="1417320"/>
          </a:xfrm>
          <a:prstGeom prst="roundRect">
            <a:avLst>
              <a:gd name="adj" fmla="val 5806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44488" y="1984248"/>
            <a:ext cx="164592" cy="164592"/>
          </a:xfrm>
          <a:prstGeom prst="diamond">
            <a:avLst/>
          </a:prstGeom>
          <a:solidFill>
            <a:srgbClr val="FF6600"/>
          </a:solidFill>
          <a:ln/>
        </p:spPr>
      </p:sp>
      <p:sp>
        <p:nvSpPr>
          <p:cNvPr id="10" name="Text 8"/>
          <p:cNvSpPr/>
          <p:nvPr/>
        </p:nvSpPr>
        <p:spPr>
          <a:xfrm>
            <a:off x="6964528" y="1892808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doors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44488" y="2350008"/>
            <a:ext cx="458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assessors access to routines, boards, data and people across all shifts.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5227168" cy="1417320"/>
          </a:xfrm>
          <a:prstGeom prst="roundRect">
            <a:avLst>
              <a:gd name="adj" fmla="val 5806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3630168"/>
            <a:ext cx="164592" cy="164592"/>
          </a:xfrm>
          <a:prstGeom prst="diamond">
            <a:avLst/>
          </a:prstGeom>
          <a:solidFill>
            <a:srgbClr val="FF6600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538728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result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60120" y="3995928"/>
            <a:ext cx="458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profile as your terminal’s improvement agenda, not the OpEx team’s report.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24448" y="3337560"/>
            <a:ext cx="5227168" cy="1417320"/>
          </a:xfrm>
          <a:prstGeom prst="roundRect">
            <a:avLst>
              <a:gd name="adj" fmla="val 5806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44488" y="3630168"/>
            <a:ext cx="164592" cy="164592"/>
          </a:xfrm>
          <a:prstGeom prst="diamond">
            <a:avLst/>
          </a:prstGeom>
          <a:solidFill>
            <a:srgbClr val="FF6600"/>
          </a:solidFill>
          <a:ln/>
        </p:spPr>
      </p:sp>
      <p:sp>
        <p:nvSpPr>
          <p:cNvPr id="18" name="Text 16"/>
          <p:cNvSpPr/>
          <p:nvPr/>
        </p:nvSpPr>
        <p:spPr>
          <a:xfrm>
            <a:off x="6964528" y="3538728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cadence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644488" y="3995928"/>
            <a:ext cx="4587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to the quarterly rhythm so progress can actually be measured over time.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3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RHYTHM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</a:t>
            </a:r>
            <a:r>
              <a:rPr lang="en-US" sz="2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93644" y="2514600"/>
            <a:ext cx="365760" cy="0"/>
          </a:xfrm>
          <a:prstGeom prst="line">
            <a:avLst/>
          </a:prstGeom>
          <a:noFill/>
          <a:ln w="25400">
            <a:solidFill>
              <a:srgbClr val="55657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702270" y="2350008"/>
            <a:ext cx="329184" cy="32918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2453564" cy="1828800"/>
          </a:xfrm>
          <a:prstGeom prst="roundRect">
            <a:avLst>
              <a:gd name="adj" fmla="val 4500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063240"/>
            <a:ext cx="24535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3977640"/>
            <a:ext cx="20512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Assessors visit. Evidence gathered, scored, calibrated.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12968" y="2514600"/>
            <a:ext cx="365760" cy="0"/>
          </a:xfrm>
          <a:prstGeom prst="line">
            <a:avLst/>
          </a:prstGeom>
          <a:noFill/>
          <a:ln w="25400">
            <a:solidFill>
              <a:srgbClr val="55657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21594" y="2350008"/>
            <a:ext cx="329184" cy="32918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3459404" y="2011680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wks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9404" y="2834640"/>
            <a:ext cx="2453564" cy="1828800"/>
          </a:xfrm>
          <a:prstGeom prst="roundRect">
            <a:avLst>
              <a:gd name="adj" fmla="val 4500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59404" y="3063240"/>
            <a:ext cx="24535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96564" y="356616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Read-out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60572" y="3977640"/>
            <a:ext cx="20512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and ranked opportunities shared with your team.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32291" y="2514600"/>
            <a:ext cx="365760" cy="0"/>
          </a:xfrm>
          <a:prstGeom prst="line">
            <a:avLst/>
          </a:prstGeom>
          <a:noFill/>
          <a:ln w="25400">
            <a:solidFill>
              <a:srgbClr val="55657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340918" y="2350008"/>
            <a:ext cx="329184" cy="32918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0" name="Text 18"/>
          <p:cNvSpPr/>
          <p:nvPr/>
        </p:nvSpPr>
        <p:spPr>
          <a:xfrm>
            <a:off x="6278728" y="2011680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 wks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8728" y="2834640"/>
            <a:ext cx="2453564" cy="1828800"/>
          </a:xfrm>
          <a:prstGeom prst="roundRect">
            <a:avLst>
              <a:gd name="adj" fmla="val 4500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78728" y="3063240"/>
            <a:ext cx="24535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15888" y="356616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79896" y="3977640"/>
            <a:ext cx="20512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Customized BEST actions, owners and dates agreed.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160241" y="2350008"/>
            <a:ext cx="329184" cy="32918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6" name="Text 24"/>
          <p:cNvSpPr/>
          <p:nvPr/>
        </p:nvSpPr>
        <p:spPr>
          <a:xfrm>
            <a:off x="9098051" y="2011680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quarter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051" y="2834640"/>
            <a:ext cx="2453564" cy="1828800"/>
          </a:xfrm>
          <a:prstGeom prst="roundRect">
            <a:avLst>
              <a:gd name="adj" fmla="val 4500"/>
            </a:avLst>
          </a:prstGeom>
          <a:solidFill>
            <a:srgbClr val="3C4C5E"/>
          </a:solidFill>
          <a:ln/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098051" y="3063240"/>
            <a:ext cx="24535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235211" y="356616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Re-assess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99219" y="3977640"/>
            <a:ext cx="20512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pulse — measure the movement, adjust the plan.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8B95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divider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divider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 ·  MATURITY ASSESSMENT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640080" y="39776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baseline today is the proof of progress tomorrow.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640080" y="5440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see clearly where we stand — and build the plan that gets each terminal moving.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008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Hanseatic Global Terminals   ·   Operational Excellence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9dd1e0b-5267-470b-acea-8e55b9f41d8e" xsi:nil="true"/>
    <lcf76f155ced4ddcb4097134ff3c332f xmlns="229e0a11-3848-49fd-8c6a-81e88ac0887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A925EF3109D14BBF07652984DC743A" ma:contentTypeVersion="16" ma:contentTypeDescription="Create a new document." ma:contentTypeScope="" ma:versionID="c449a79e7449419c4943afc2a4b475d9">
  <xsd:schema xmlns:xsd="http://www.w3.org/2001/XMLSchema" xmlns:xs="http://www.w3.org/2001/XMLSchema" xmlns:p="http://schemas.microsoft.com/office/2006/metadata/properties" xmlns:ns2="229e0a11-3848-49fd-8c6a-81e88ac08879" xmlns:ns3="39dd1e0b-5267-470b-acea-8e55b9f41d8e" targetNamespace="http://schemas.microsoft.com/office/2006/metadata/properties" ma:root="true" ma:fieldsID="4b7ba7fa09a540e48e07747b7a6e6119" ns2:_="" ns3:_="">
    <xsd:import namespace="229e0a11-3848-49fd-8c6a-81e88ac08879"/>
    <xsd:import namespace="39dd1e0b-5267-470b-acea-8e55b9f41d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9e0a11-3848-49fd-8c6a-81e88ac088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0" nillable="true" ma:taxonomy="true" ma:internalName="lcf76f155ced4ddcb4097134ff3c332f" ma:taxonomyFieldName="MediaServiceImageTags" ma:displayName="Image Tags" ma:readOnly="false" ma:fieldId="{5cf76f15-5ced-4ddc-b409-7134ff3c332f}" ma:taxonomyMulti="true" ma:sspId="25a390ff-bb44-41ab-883e-bb6999e3d7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dd1e0b-5267-470b-acea-8e55b9f41d8e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7cd2ebdb-72a5-4439-aff3-15631ecda4b4}" ma:internalName="TaxCatchAll" ma:showField="CatchAllData" ma:web="39dd1e0b-5267-470b-acea-8e55b9f41d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6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5FE4E4-F0EF-4619-BB23-7FDEF5B72A0A}">
  <ds:schemaRefs>
    <ds:schemaRef ds:uri="http://schemas.microsoft.com/office/2006/metadata/properties"/>
    <ds:schemaRef ds:uri="http://schemas.microsoft.com/office/infopath/2007/PartnerControls"/>
    <ds:schemaRef ds:uri="39dd1e0b-5267-470b-acea-8e55b9f41d8e"/>
    <ds:schemaRef ds:uri="229e0a11-3848-49fd-8c6a-81e88ac08879"/>
  </ds:schemaRefs>
</ds:datastoreItem>
</file>

<file path=customXml/itemProps2.xml><?xml version="1.0" encoding="utf-8"?>
<ds:datastoreItem xmlns:ds="http://schemas.openxmlformats.org/officeDocument/2006/customXml" ds:itemID="{58A0ED80-C2F8-44F2-A383-FEB987C6A7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D84C21-77DA-40BF-88B6-74A3FCB3C0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9e0a11-3848-49fd-8c6a-81e88ac08879"/>
    <ds:schemaRef ds:uri="39dd1e0b-5267-470b-acea-8e55b9f41d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16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Maturity Assessment — Leadership Briefing</dc:title>
  <dc:subject>PptxGenJS Presentation</dc:subject>
  <dc:creator>BEST Programme</dc:creator>
  <cp:lastModifiedBy>BEST Programme</cp:lastModifiedBy>
  <cp:revision>2</cp:revision>
  <dcterms:created xsi:type="dcterms:W3CDTF">2026-06-29T14:26:56Z</dcterms:created>
  <dcterms:modified xsi:type="dcterms:W3CDTF">2026-07-17T15:26:02Z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0x0101004FA925EF3109D14BBF07652984DC743A</vt:lpwstr>
  </property>
</Properties>
</file>